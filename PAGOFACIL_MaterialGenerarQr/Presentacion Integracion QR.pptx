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astica Bold" charset="1" panose="02000500000000000000"/>
      <p:regular r:id="rId17"/>
    </p:embeddedFont>
    <p:embeddedFont>
      <p:font typeface="Cy Grotesk Wide" charset="1" panose="00000505000000000000"/>
      <p:regular r:id="rId18"/>
    </p:embeddedFont>
    <p:embeddedFont>
      <p:font typeface="Cy Grotesk Wide Bold" charset="1" panose="00000805000000000000"/>
      <p:regular r:id="rId19"/>
    </p:embeddedFont>
    <p:embeddedFont>
      <p:font typeface="Montaser Arabic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5.pn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3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3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57342" y="4581047"/>
            <a:ext cx="8734653" cy="8996365"/>
          </a:xfrm>
          <a:custGeom>
            <a:avLst/>
            <a:gdLst/>
            <a:ahLst/>
            <a:cxnLst/>
            <a:rect r="r" b="b" t="t" l="l"/>
            <a:pathLst>
              <a:path h="8996365" w="8734653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91974" y="-5120206"/>
            <a:ext cx="8734653" cy="8996365"/>
          </a:xfrm>
          <a:custGeom>
            <a:avLst/>
            <a:gdLst/>
            <a:ahLst/>
            <a:cxnLst/>
            <a:rect r="r" b="b" t="t" l="l"/>
            <a:pathLst>
              <a:path h="8996365" w="8734653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4983192" cy="1739263"/>
          </a:xfrm>
          <a:custGeom>
            <a:avLst/>
            <a:gdLst/>
            <a:ahLst/>
            <a:cxnLst/>
            <a:rect r="r" b="b" t="t" l="l"/>
            <a:pathLst>
              <a:path h="1739263" w="4983192">
                <a:moveTo>
                  <a:pt x="0" y="0"/>
                </a:moveTo>
                <a:lnTo>
                  <a:pt x="4983192" y="0"/>
                </a:lnTo>
                <a:lnTo>
                  <a:pt x="4983192" y="1739263"/>
                </a:lnTo>
                <a:lnTo>
                  <a:pt x="0" y="17392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27816" y="2982355"/>
            <a:ext cx="14032368" cy="2161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56"/>
              </a:lnSpc>
            </a:pPr>
            <a:r>
              <a:rPr lang="en-US" b="true" sz="6040" spc="718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ESPECIFICACIONES DE INTEGRACIÓN POR API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62821" y="5301490"/>
            <a:ext cx="10562357" cy="102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5"/>
              </a:lnSpc>
            </a:pPr>
            <a:r>
              <a:rPr lang="en-US" b="true" sz="5646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MÉTODO QR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16468" y="8843010"/>
            <a:ext cx="8342832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PRESENTADO POR: LIC.JOSÉ MARIO HERBAS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68113" y="2328035"/>
            <a:ext cx="9486512" cy="93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0"/>
              </a:lnSpc>
            </a:pPr>
            <a:r>
              <a:rPr lang="en-US" sz="5100" spc="606" b="true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Sobre nosotros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426436" y="3677044"/>
            <a:ext cx="8569867" cy="4957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2799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PagoFacil Bolivia es una fintech que transforma la forma en que las personas y las empresas gestionan sus finanzas y realizan transacciones digitales.</a:t>
            </a:r>
          </a:p>
          <a:p>
            <a:pPr algn="just">
              <a:lnSpc>
                <a:spcPts val="2799"/>
              </a:lnSpc>
            </a:pPr>
            <a:r>
              <a:rPr lang="en-US" sz="2799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A través de nuestra plataforma, brindamos soluciones ágiles, seguras y accesibles para pagos de servicios, transferencias de dinero y gestión financiera. Además, impulsamos la innovación tecnológica con servicios API que facilitan la integración de procesos PayIn y PayOut, conectando a Bolivia con el ecosistema financiero global.</a:t>
            </a:r>
          </a:p>
          <a:p>
            <a:pPr algn="just">
              <a:lnSpc>
                <a:spcPts val="2799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7545407" cy="10287000"/>
            <a:chOff x="0" y="0"/>
            <a:chExt cx="1054893" cy="1438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54893" cy="1438184"/>
            </a:xfrm>
            <a:custGeom>
              <a:avLst/>
              <a:gdLst/>
              <a:ahLst/>
              <a:cxnLst/>
              <a:rect r="r" b="b" t="t" l="l"/>
              <a:pathLst>
                <a:path h="1438184" w="1054893">
                  <a:moveTo>
                    <a:pt x="0" y="0"/>
                  </a:moveTo>
                  <a:lnTo>
                    <a:pt x="1054893" y="0"/>
                  </a:lnTo>
                  <a:lnTo>
                    <a:pt x="1054893" y="1438184"/>
                  </a:lnTo>
                  <a:lnTo>
                    <a:pt x="0" y="1438184"/>
                  </a:lnTo>
                  <a:close/>
                </a:path>
              </a:pathLst>
            </a:custGeom>
            <a:blipFill>
              <a:blip r:embed="rId2"/>
              <a:stretch>
                <a:fillRect l="0" t="-4943" r="0" b="-4943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5400000">
            <a:off x="4286766" y="7955257"/>
            <a:ext cx="5410509" cy="5572622"/>
          </a:xfrm>
          <a:custGeom>
            <a:avLst/>
            <a:gdLst/>
            <a:ahLst/>
            <a:cxnLst/>
            <a:rect r="r" b="b" t="t" l="l"/>
            <a:pathLst>
              <a:path h="5572622" w="5410509">
                <a:moveTo>
                  <a:pt x="0" y="0"/>
                </a:moveTo>
                <a:lnTo>
                  <a:pt x="5410509" y="0"/>
                </a:lnTo>
                <a:lnTo>
                  <a:pt x="5410509" y="5572621"/>
                </a:lnTo>
                <a:lnTo>
                  <a:pt x="0" y="55726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638397">
            <a:off x="4840152" y="-2786311"/>
            <a:ext cx="5410509" cy="5572622"/>
          </a:xfrm>
          <a:custGeom>
            <a:avLst/>
            <a:gdLst/>
            <a:ahLst/>
            <a:cxnLst/>
            <a:rect r="r" b="b" t="t" l="l"/>
            <a:pathLst>
              <a:path h="5572622" w="5410509">
                <a:moveTo>
                  <a:pt x="0" y="0"/>
                </a:moveTo>
                <a:lnTo>
                  <a:pt x="5410509" y="0"/>
                </a:lnTo>
                <a:lnTo>
                  <a:pt x="5410509" y="5572622"/>
                </a:lnTo>
                <a:lnTo>
                  <a:pt x="0" y="55726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304808" y="0"/>
            <a:ext cx="4983192" cy="1739263"/>
          </a:xfrm>
          <a:custGeom>
            <a:avLst/>
            <a:gdLst/>
            <a:ahLst/>
            <a:cxnLst/>
            <a:rect r="r" b="b" t="t" l="l"/>
            <a:pathLst>
              <a:path h="1739263" w="4983192">
                <a:moveTo>
                  <a:pt x="0" y="0"/>
                </a:moveTo>
                <a:lnTo>
                  <a:pt x="4983192" y="0"/>
                </a:lnTo>
                <a:lnTo>
                  <a:pt x="4983192" y="1739263"/>
                </a:lnTo>
                <a:lnTo>
                  <a:pt x="0" y="17392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300990">
            <a:off x="6577987" y="6309152"/>
            <a:ext cx="10630757" cy="10949282"/>
          </a:xfrm>
          <a:custGeom>
            <a:avLst/>
            <a:gdLst/>
            <a:ahLst/>
            <a:cxnLst/>
            <a:rect r="r" b="b" t="t" l="l"/>
            <a:pathLst>
              <a:path h="10949282" w="10630757">
                <a:moveTo>
                  <a:pt x="0" y="0"/>
                </a:moveTo>
                <a:lnTo>
                  <a:pt x="10630758" y="0"/>
                </a:lnTo>
                <a:lnTo>
                  <a:pt x="10630758" y="10949282"/>
                </a:lnTo>
                <a:lnTo>
                  <a:pt x="0" y="10949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4997" y="3984844"/>
            <a:ext cx="1379620" cy="1415655"/>
          </a:xfrm>
          <a:custGeom>
            <a:avLst/>
            <a:gdLst/>
            <a:ahLst/>
            <a:cxnLst/>
            <a:rect r="r" b="b" t="t" l="l"/>
            <a:pathLst>
              <a:path h="1415655" w="1379620">
                <a:moveTo>
                  <a:pt x="0" y="0"/>
                </a:moveTo>
                <a:lnTo>
                  <a:pt x="1379619" y="0"/>
                </a:lnTo>
                <a:lnTo>
                  <a:pt x="1379619" y="1415655"/>
                </a:lnTo>
                <a:lnTo>
                  <a:pt x="0" y="14156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60959" y="5961935"/>
            <a:ext cx="1415655" cy="1415655"/>
          </a:xfrm>
          <a:custGeom>
            <a:avLst/>
            <a:gdLst/>
            <a:ahLst/>
            <a:cxnLst/>
            <a:rect r="r" b="b" t="t" l="l"/>
            <a:pathLst>
              <a:path h="1415655" w="1415655">
                <a:moveTo>
                  <a:pt x="0" y="0"/>
                </a:moveTo>
                <a:lnTo>
                  <a:pt x="1415654" y="0"/>
                </a:lnTo>
                <a:lnTo>
                  <a:pt x="1415654" y="1415654"/>
                </a:lnTo>
                <a:lnTo>
                  <a:pt x="0" y="14156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691027" y="7795560"/>
            <a:ext cx="1063028" cy="1415655"/>
          </a:xfrm>
          <a:custGeom>
            <a:avLst/>
            <a:gdLst/>
            <a:ahLst/>
            <a:cxnLst/>
            <a:rect r="r" b="b" t="t" l="l"/>
            <a:pathLst>
              <a:path h="1415655" w="1063028">
                <a:moveTo>
                  <a:pt x="0" y="0"/>
                </a:moveTo>
                <a:lnTo>
                  <a:pt x="1063028" y="0"/>
                </a:lnTo>
                <a:lnTo>
                  <a:pt x="1063028" y="1415654"/>
                </a:lnTo>
                <a:lnTo>
                  <a:pt x="0" y="14156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86242" y="2127997"/>
            <a:ext cx="9232579" cy="1371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29"/>
              </a:lnSpc>
            </a:pPr>
            <a:r>
              <a:rPr lang="en-US" sz="7520" spc="894" b="true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Objetivos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277106" y="4012051"/>
            <a:ext cx="8050850" cy="1388448"/>
            <a:chOff x="0" y="0"/>
            <a:chExt cx="10734467" cy="1851264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734467" cy="1851264"/>
              <a:chOff x="0" y="0"/>
              <a:chExt cx="2120389" cy="36568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120389" cy="365682"/>
              </a:xfrm>
              <a:custGeom>
                <a:avLst/>
                <a:gdLst/>
                <a:ahLst/>
                <a:cxnLst/>
                <a:rect r="r" b="b" t="t" l="l"/>
                <a:pathLst>
                  <a:path h="365682" w="2120389">
                    <a:moveTo>
                      <a:pt x="49043" y="0"/>
                    </a:moveTo>
                    <a:lnTo>
                      <a:pt x="2071346" y="0"/>
                    </a:lnTo>
                    <a:cubicBezTo>
                      <a:pt x="2084353" y="0"/>
                      <a:pt x="2096827" y="5167"/>
                      <a:pt x="2106024" y="14364"/>
                    </a:cubicBezTo>
                    <a:cubicBezTo>
                      <a:pt x="2115222" y="23562"/>
                      <a:pt x="2120389" y="36036"/>
                      <a:pt x="2120389" y="49043"/>
                    </a:cubicBezTo>
                    <a:lnTo>
                      <a:pt x="2120389" y="316639"/>
                    </a:lnTo>
                    <a:cubicBezTo>
                      <a:pt x="2120389" y="329646"/>
                      <a:pt x="2115222" y="342120"/>
                      <a:pt x="2106024" y="351317"/>
                    </a:cubicBezTo>
                    <a:cubicBezTo>
                      <a:pt x="2096827" y="360515"/>
                      <a:pt x="2084353" y="365682"/>
                      <a:pt x="2071346" y="365682"/>
                    </a:cubicBezTo>
                    <a:lnTo>
                      <a:pt x="49043" y="365682"/>
                    </a:lnTo>
                    <a:cubicBezTo>
                      <a:pt x="36036" y="365682"/>
                      <a:pt x="23562" y="360515"/>
                      <a:pt x="14364" y="351317"/>
                    </a:cubicBezTo>
                    <a:cubicBezTo>
                      <a:pt x="5167" y="342120"/>
                      <a:pt x="0" y="329646"/>
                      <a:pt x="0" y="316639"/>
                    </a:cubicBezTo>
                    <a:lnTo>
                      <a:pt x="0" y="49043"/>
                    </a:lnTo>
                    <a:cubicBezTo>
                      <a:pt x="0" y="36036"/>
                      <a:pt x="5167" y="23562"/>
                      <a:pt x="14364" y="14364"/>
                    </a:cubicBezTo>
                    <a:cubicBezTo>
                      <a:pt x="23562" y="5167"/>
                      <a:pt x="36036" y="0"/>
                      <a:pt x="4904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3C6CA8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2120389" cy="4133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16584" y="70922"/>
              <a:ext cx="9901298" cy="1652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3C6CA8"/>
                  </a:solidFill>
                  <a:latin typeface="Cy Grotesk Wide"/>
                  <a:ea typeface="Cy Grotesk Wide"/>
                  <a:cs typeface="Cy Grotesk Wide"/>
                  <a:sym typeface="Cy Grotesk Wide"/>
                </a:rPr>
                <a:t>DESTACAR EL VALOR DE LA SOLUCIÓN FRENTE A LA NECESIDAD DE AGILIZAR Y SIMPLIFICAR LOS COBROS.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291086" y="5892761"/>
            <a:ext cx="8050850" cy="1388448"/>
            <a:chOff x="0" y="0"/>
            <a:chExt cx="10734467" cy="1851264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0734467" cy="1851264"/>
              <a:chOff x="0" y="0"/>
              <a:chExt cx="2120389" cy="36568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120389" cy="365682"/>
              </a:xfrm>
              <a:custGeom>
                <a:avLst/>
                <a:gdLst/>
                <a:ahLst/>
                <a:cxnLst/>
                <a:rect r="r" b="b" t="t" l="l"/>
                <a:pathLst>
                  <a:path h="365682" w="2120389">
                    <a:moveTo>
                      <a:pt x="49043" y="0"/>
                    </a:moveTo>
                    <a:lnTo>
                      <a:pt x="2071346" y="0"/>
                    </a:lnTo>
                    <a:cubicBezTo>
                      <a:pt x="2084353" y="0"/>
                      <a:pt x="2096827" y="5167"/>
                      <a:pt x="2106024" y="14364"/>
                    </a:cubicBezTo>
                    <a:cubicBezTo>
                      <a:pt x="2115222" y="23562"/>
                      <a:pt x="2120389" y="36036"/>
                      <a:pt x="2120389" y="49043"/>
                    </a:cubicBezTo>
                    <a:lnTo>
                      <a:pt x="2120389" y="316639"/>
                    </a:lnTo>
                    <a:cubicBezTo>
                      <a:pt x="2120389" y="329646"/>
                      <a:pt x="2115222" y="342120"/>
                      <a:pt x="2106024" y="351317"/>
                    </a:cubicBezTo>
                    <a:cubicBezTo>
                      <a:pt x="2096827" y="360515"/>
                      <a:pt x="2084353" y="365682"/>
                      <a:pt x="2071346" y="365682"/>
                    </a:cubicBezTo>
                    <a:lnTo>
                      <a:pt x="49043" y="365682"/>
                    </a:lnTo>
                    <a:cubicBezTo>
                      <a:pt x="36036" y="365682"/>
                      <a:pt x="23562" y="360515"/>
                      <a:pt x="14364" y="351317"/>
                    </a:cubicBezTo>
                    <a:cubicBezTo>
                      <a:pt x="5167" y="342120"/>
                      <a:pt x="0" y="329646"/>
                      <a:pt x="0" y="316639"/>
                    </a:cubicBezTo>
                    <a:lnTo>
                      <a:pt x="0" y="49043"/>
                    </a:lnTo>
                    <a:cubicBezTo>
                      <a:pt x="0" y="36036"/>
                      <a:pt x="5167" y="23562"/>
                      <a:pt x="14364" y="14364"/>
                    </a:cubicBezTo>
                    <a:cubicBezTo>
                      <a:pt x="23562" y="5167"/>
                      <a:pt x="36036" y="0"/>
                      <a:pt x="4904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3C6CA8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2120389" cy="4133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16584" y="70922"/>
              <a:ext cx="9901298" cy="1652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3C6CA8"/>
                  </a:solidFill>
                  <a:latin typeface="Cy Grotesk Wide"/>
                  <a:ea typeface="Cy Grotesk Wide"/>
                  <a:cs typeface="Cy Grotesk Wide"/>
                  <a:sym typeface="Cy Grotesk Wide"/>
                </a:rPr>
                <a:t>PRESENTAR EL PROCESO DE INTEGRACIÓN Y FUNCIONAMIENTO DE GENERACIÓN DE QR EN PAGOFACIL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03137" y="7822766"/>
            <a:ext cx="8050850" cy="1701612"/>
            <a:chOff x="0" y="0"/>
            <a:chExt cx="10734467" cy="226881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0734467" cy="1975261"/>
              <a:chOff x="0" y="0"/>
              <a:chExt cx="2120389" cy="39017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120389" cy="390175"/>
              </a:xfrm>
              <a:custGeom>
                <a:avLst/>
                <a:gdLst/>
                <a:ahLst/>
                <a:cxnLst/>
                <a:rect r="r" b="b" t="t" l="l"/>
                <a:pathLst>
                  <a:path h="390175" w="2120389">
                    <a:moveTo>
                      <a:pt x="49043" y="0"/>
                    </a:moveTo>
                    <a:lnTo>
                      <a:pt x="2071346" y="0"/>
                    </a:lnTo>
                    <a:cubicBezTo>
                      <a:pt x="2084353" y="0"/>
                      <a:pt x="2096827" y="5167"/>
                      <a:pt x="2106024" y="14364"/>
                    </a:cubicBezTo>
                    <a:cubicBezTo>
                      <a:pt x="2115222" y="23562"/>
                      <a:pt x="2120389" y="36036"/>
                      <a:pt x="2120389" y="49043"/>
                    </a:cubicBezTo>
                    <a:lnTo>
                      <a:pt x="2120389" y="341132"/>
                    </a:lnTo>
                    <a:cubicBezTo>
                      <a:pt x="2120389" y="354139"/>
                      <a:pt x="2115222" y="366613"/>
                      <a:pt x="2106024" y="375811"/>
                    </a:cubicBezTo>
                    <a:cubicBezTo>
                      <a:pt x="2096827" y="385008"/>
                      <a:pt x="2084353" y="390175"/>
                      <a:pt x="2071346" y="390175"/>
                    </a:cubicBezTo>
                    <a:lnTo>
                      <a:pt x="49043" y="390175"/>
                    </a:lnTo>
                    <a:cubicBezTo>
                      <a:pt x="36036" y="390175"/>
                      <a:pt x="23562" y="385008"/>
                      <a:pt x="14364" y="375811"/>
                    </a:cubicBezTo>
                    <a:cubicBezTo>
                      <a:pt x="5167" y="366613"/>
                      <a:pt x="0" y="354139"/>
                      <a:pt x="0" y="341132"/>
                    </a:cubicBezTo>
                    <a:lnTo>
                      <a:pt x="0" y="49043"/>
                    </a:lnTo>
                    <a:cubicBezTo>
                      <a:pt x="0" y="36036"/>
                      <a:pt x="5167" y="23562"/>
                      <a:pt x="14364" y="14364"/>
                    </a:cubicBezTo>
                    <a:cubicBezTo>
                      <a:pt x="23562" y="5167"/>
                      <a:pt x="36036" y="0"/>
                      <a:pt x="4904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3C6CA8"/>
                </a:solidFill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2120389" cy="4378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16584" y="57746"/>
              <a:ext cx="9901298" cy="2211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3C6CA8"/>
                  </a:solidFill>
                  <a:latin typeface="Cy Grotesk Wide"/>
                  <a:ea typeface="Cy Grotesk Wide"/>
                  <a:cs typeface="Cy Grotesk Wide"/>
                  <a:sym typeface="Cy Grotesk Wide"/>
                </a:rPr>
                <a:t>ACLARAR DUDAS Y COMPARTIR CASOS DE USO PRÁCTICOS PARA SU APLICACIÓN</a:t>
              </a:r>
            </a:p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0" y="0"/>
            <a:ext cx="4983192" cy="1739263"/>
          </a:xfrm>
          <a:custGeom>
            <a:avLst/>
            <a:gdLst/>
            <a:ahLst/>
            <a:cxnLst/>
            <a:rect r="r" b="b" t="t" l="l"/>
            <a:pathLst>
              <a:path h="1739263" w="4983192">
                <a:moveTo>
                  <a:pt x="0" y="0"/>
                </a:moveTo>
                <a:lnTo>
                  <a:pt x="4983192" y="0"/>
                </a:lnTo>
                <a:lnTo>
                  <a:pt x="4983192" y="1739263"/>
                </a:lnTo>
                <a:lnTo>
                  <a:pt x="0" y="17392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76555" y="7500689"/>
            <a:ext cx="5410509" cy="5572622"/>
          </a:xfrm>
          <a:custGeom>
            <a:avLst/>
            <a:gdLst/>
            <a:ahLst/>
            <a:cxnLst/>
            <a:rect r="r" b="b" t="t" l="l"/>
            <a:pathLst>
              <a:path h="5572622" w="5410509">
                <a:moveTo>
                  <a:pt x="0" y="0"/>
                </a:moveTo>
                <a:lnTo>
                  <a:pt x="5410510" y="0"/>
                </a:lnTo>
                <a:lnTo>
                  <a:pt x="5410510" y="5572622"/>
                </a:lnTo>
                <a:lnTo>
                  <a:pt x="0" y="5572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742593" y="0"/>
            <a:ext cx="7545407" cy="10287000"/>
            <a:chOff x="0" y="0"/>
            <a:chExt cx="1054893" cy="1438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54893" cy="1438184"/>
            </a:xfrm>
            <a:custGeom>
              <a:avLst/>
              <a:gdLst/>
              <a:ahLst/>
              <a:cxnLst/>
              <a:rect r="r" b="b" t="t" l="l"/>
              <a:pathLst>
                <a:path h="1438184" w="1054893">
                  <a:moveTo>
                    <a:pt x="0" y="0"/>
                  </a:moveTo>
                  <a:lnTo>
                    <a:pt x="1054893" y="0"/>
                  </a:lnTo>
                  <a:lnTo>
                    <a:pt x="1054893" y="1438184"/>
                  </a:lnTo>
                  <a:lnTo>
                    <a:pt x="0" y="1438184"/>
                  </a:lnTo>
                  <a:close/>
                </a:path>
              </a:pathLst>
            </a:custGeom>
            <a:blipFill>
              <a:blip r:embed="rId4"/>
              <a:stretch>
                <a:fillRect l="0" t="-4943" r="0" b="-4943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843335" y="2355622"/>
            <a:ext cx="10166070" cy="114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380" b="true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Generación de QR</a:t>
            </a:r>
          </a:p>
          <a:p>
            <a:pPr algn="l">
              <a:lnSpc>
                <a:spcPts val="4480"/>
              </a:lnSpc>
            </a:pPr>
            <a:r>
              <a:rPr lang="en-US" sz="3200" spc="380" b="true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 Pago automático y seguro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31897"/>
            <a:ext cx="8889774" cy="494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36"/>
              </a:lnSpc>
            </a:pPr>
            <a:r>
              <a:rPr lang="en-US" sz="2300" spc="39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El sistema permite a empresas y usuarios realizar y recibir pagos de forma inmediata, sin complicaciones ni procesos manuales.</a:t>
            </a:r>
          </a:p>
          <a:p>
            <a:pPr algn="just">
              <a:lnSpc>
                <a:spcPts val="3036"/>
              </a:lnSpc>
            </a:pPr>
            <a:r>
              <a:rPr lang="en-US" sz="2300" spc="39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 Su objetivo es simplificar la experiencia de cobro, reducir tiempos de espera y asegurar que cada transacción se confirme de manera automática y segura.</a:t>
            </a:r>
          </a:p>
          <a:p>
            <a:pPr algn="just">
              <a:lnSpc>
                <a:spcPts val="3036"/>
              </a:lnSpc>
            </a:pPr>
            <a:r>
              <a:rPr lang="en-US" sz="2300" spc="39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Con esta solución, los negocios pueden integrar pagos digitales en sus propios sistemas y brindar a sus clientes un método de pago moderno, rápido y transparente, optimizando la gestión de ingresos y mejorando la atención al usuario.</a:t>
            </a:r>
          </a:p>
          <a:p>
            <a:pPr algn="just">
              <a:lnSpc>
                <a:spcPts val="3036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-879725">
            <a:off x="7669318" y="-2663571"/>
            <a:ext cx="5410509" cy="5572622"/>
          </a:xfrm>
          <a:custGeom>
            <a:avLst/>
            <a:gdLst/>
            <a:ahLst/>
            <a:cxnLst/>
            <a:rect r="r" b="b" t="t" l="l"/>
            <a:pathLst>
              <a:path h="5572622" w="5410509">
                <a:moveTo>
                  <a:pt x="0" y="0"/>
                </a:moveTo>
                <a:lnTo>
                  <a:pt x="5410509" y="0"/>
                </a:lnTo>
                <a:lnTo>
                  <a:pt x="5410509" y="5572622"/>
                </a:lnTo>
                <a:lnTo>
                  <a:pt x="0" y="5572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0"/>
            <a:ext cx="4983192" cy="1739263"/>
          </a:xfrm>
          <a:custGeom>
            <a:avLst/>
            <a:gdLst/>
            <a:ahLst/>
            <a:cxnLst/>
            <a:rect r="r" b="b" t="t" l="l"/>
            <a:pathLst>
              <a:path h="1739263" w="4983192">
                <a:moveTo>
                  <a:pt x="0" y="0"/>
                </a:moveTo>
                <a:lnTo>
                  <a:pt x="4983192" y="0"/>
                </a:lnTo>
                <a:lnTo>
                  <a:pt x="4983192" y="1739263"/>
                </a:lnTo>
                <a:lnTo>
                  <a:pt x="0" y="17392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629796">
            <a:off x="-5967091" y="4732321"/>
            <a:ext cx="10630757" cy="10949282"/>
          </a:xfrm>
          <a:custGeom>
            <a:avLst/>
            <a:gdLst/>
            <a:ahLst/>
            <a:cxnLst/>
            <a:rect r="r" b="b" t="t" l="l"/>
            <a:pathLst>
              <a:path h="10949282" w="10630757">
                <a:moveTo>
                  <a:pt x="0" y="0"/>
                </a:moveTo>
                <a:lnTo>
                  <a:pt x="10630757" y="0"/>
                </a:lnTo>
                <a:lnTo>
                  <a:pt x="10630757" y="10949282"/>
                </a:lnTo>
                <a:lnTo>
                  <a:pt x="0" y="10949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04960" y="4129196"/>
            <a:ext cx="1448917" cy="1355634"/>
          </a:xfrm>
          <a:custGeom>
            <a:avLst/>
            <a:gdLst/>
            <a:ahLst/>
            <a:cxnLst/>
            <a:rect r="r" b="b" t="t" l="l"/>
            <a:pathLst>
              <a:path h="1355634" w="1448917">
                <a:moveTo>
                  <a:pt x="0" y="0"/>
                </a:moveTo>
                <a:lnTo>
                  <a:pt x="1448917" y="0"/>
                </a:lnTo>
                <a:lnTo>
                  <a:pt x="1448917" y="1355634"/>
                </a:lnTo>
                <a:lnTo>
                  <a:pt x="0" y="13556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300990">
            <a:off x="12459812" y="-2031537"/>
            <a:ext cx="7089208" cy="7301619"/>
          </a:xfrm>
          <a:custGeom>
            <a:avLst/>
            <a:gdLst/>
            <a:ahLst/>
            <a:cxnLst/>
            <a:rect r="r" b="b" t="t" l="l"/>
            <a:pathLst>
              <a:path h="7301619" w="7089208">
                <a:moveTo>
                  <a:pt x="0" y="0"/>
                </a:moveTo>
                <a:lnTo>
                  <a:pt x="7089208" y="0"/>
                </a:lnTo>
                <a:lnTo>
                  <a:pt x="7089208" y="7301619"/>
                </a:lnTo>
                <a:lnTo>
                  <a:pt x="0" y="73016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96053" y="4129196"/>
            <a:ext cx="1152527" cy="1549852"/>
          </a:xfrm>
          <a:custGeom>
            <a:avLst/>
            <a:gdLst/>
            <a:ahLst/>
            <a:cxnLst/>
            <a:rect r="r" b="b" t="t" l="l"/>
            <a:pathLst>
              <a:path h="1549852" w="1152527">
                <a:moveTo>
                  <a:pt x="0" y="0"/>
                </a:moveTo>
                <a:lnTo>
                  <a:pt x="1152527" y="0"/>
                </a:lnTo>
                <a:lnTo>
                  <a:pt x="1152527" y="1549852"/>
                </a:lnTo>
                <a:lnTo>
                  <a:pt x="0" y="15498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23969" y="3999591"/>
            <a:ext cx="1604341" cy="1720054"/>
          </a:xfrm>
          <a:custGeom>
            <a:avLst/>
            <a:gdLst/>
            <a:ahLst/>
            <a:cxnLst/>
            <a:rect r="r" b="b" t="t" l="l"/>
            <a:pathLst>
              <a:path h="1720054" w="1604341">
                <a:moveTo>
                  <a:pt x="0" y="0"/>
                </a:moveTo>
                <a:lnTo>
                  <a:pt x="1604341" y="0"/>
                </a:lnTo>
                <a:lnTo>
                  <a:pt x="1604341" y="1720054"/>
                </a:lnTo>
                <a:lnTo>
                  <a:pt x="0" y="17200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34177" y="1532510"/>
            <a:ext cx="13342519" cy="2009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69"/>
              </a:lnSpc>
            </a:pPr>
            <a:r>
              <a:rPr lang="en-US" b="true" sz="5620" spc="668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Conceptos de generación de qr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35947" y="5875625"/>
            <a:ext cx="3672739" cy="553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4"/>
              </a:lnSpc>
            </a:pPr>
            <a:r>
              <a:rPr lang="en-US" sz="3260" b="true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Autenticación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40588" y="6781238"/>
            <a:ext cx="2663457" cy="772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2"/>
              </a:lnSpc>
            </a:pPr>
            <a:r>
              <a:rPr lang="en-US" sz="1532" b="true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Propósito</a:t>
            </a:r>
            <a:r>
              <a:rPr lang="en-US" sz="15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: Validar la identidad del comercio/cliente en el sistema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89770" y="5877216"/>
            <a:ext cx="3672739" cy="761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9"/>
              </a:lnSpc>
            </a:pPr>
            <a:r>
              <a:rPr lang="en-US" sz="3260" b="true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Generación de QR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55266" y="5805370"/>
            <a:ext cx="3672739" cy="766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3260" b="true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Confirmación de Pago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40588" y="7699311"/>
            <a:ext cx="2663457" cy="96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2"/>
              </a:lnSpc>
            </a:pPr>
            <a:r>
              <a:rPr lang="en-US" sz="1532" b="true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Proceso</a:t>
            </a:r>
            <a:r>
              <a:rPr lang="en-US" sz="15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: Se envían las credenciales (tcTokenService, tcTokenSecret) en el header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40588" y="8807884"/>
            <a:ext cx="2663457" cy="772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2"/>
              </a:lnSpc>
            </a:pPr>
            <a:r>
              <a:rPr lang="en-US" sz="1532" b="true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Resultado</a:t>
            </a:r>
            <a:r>
              <a:rPr lang="en-US" sz="15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:  Se obtiene un Token Bearer necesario para acceder a los demás servicios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94410" y="6781238"/>
            <a:ext cx="2663457" cy="581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2"/>
              </a:lnSpc>
            </a:pPr>
            <a:r>
              <a:rPr lang="en-US" sz="1532" b="true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Propósito</a:t>
            </a:r>
            <a:r>
              <a:rPr lang="en-US" sz="15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: Crear un código QR único para la transacción de pago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94410" y="7604061"/>
            <a:ext cx="2762276" cy="96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2"/>
              </a:lnSpc>
            </a:pPr>
            <a:r>
              <a:rPr lang="en-US" sz="1532" b="true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Proceso</a:t>
            </a:r>
            <a:r>
              <a:rPr lang="en-US" sz="15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: Se envía el Token Bearer y los datos de la transacción (monto, concepto, URL Callback, etc)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94410" y="8791166"/>
            <a:ext cx="2762276" cy="96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2"/>
              </a:lnSpc>
            </a:pPr>
            <a:r>
              <a:rPr lang="en-US" sz="1532" b="true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Resultado</a:t>
            </a:r>
            <a:r>
              <a:rPr lang="en-US" sz="15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:  Se recibe el QR en formato Base64, ID de transacción y datos adicionales para mostrar al cliente final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10497" y="6781238"/>
            <a:ext cx="2762276" cy="772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2"/>
              </a:lnSpc>
            </a:pPr>
            <a:r>
              <a:rPr lang="en-US" sz="1532" b="true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Propósito</a:t>
            </a:r>
            <a:r>
              <a:rPr lang="en-US" sz="15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: Verificar el estado de la transacción en cualquier momento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10497" y="7699311"/>
            <a:ext cx="2979678" cy="772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2"/>
              </a:lnSpc>
            </a:pPr>
            <a:r>
              <a:rPr lang="en-US" sz="1532" b="true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Proceso</a:t>
            </a:r>
            <a:r>
              <a:rPr lang="en-US" sz="15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: Pagofacil notifica a la URL Callback. O se consulta el estado de la Transacción del QR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10497" y="8791166"/>
            <a:ext cx="3088379" cy="772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2"/>
              </a:lnSpc>
            </a:pPr>
            <a:r>
              <a:rPr lang="en-US" sz="1532" b="true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Resultado</a:t>
            </a:r>
            <a:r>
              <a:rPr lang="en-US" sz="1532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:  Se obtiene el estado actual, y el comercio procesa la transacción en su sistema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0" y="0"/>
            <a:ext cx="4983192" cy="1739263"/>
          </a:xfrm>
          <a:custGeom>
            <a:avLst/>
            <a:gdLst/>
            <a:ahLst/>
            <a:cxnLst/>
            <a:rect r="r" b="b" t="t" l="l"/>
            <a:pathLst>
              <a:path h="1739263" w="4983192">
                <a:moveTo>
                  <a:pt x="0" y="0"/>
                </a:moveTo>
                <a:lnTo>
                  <a:pt x="4983192" y="0"/>
                </a:lnTo>
                <a:lnTo>
                  <a:pt x="4983192" y="1739263"/>
                </a:lnTo>
                <a:lnTo>
                  <a:pt x="0" y="173926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509213">
            <a:off x="-5521245" y="3498953"/>
            <a:ext cx="11797975" cy="12151473"/>
          </a:xfrm>
          <a:custGeom>
            <a:avLst/>
            <a:gdLst/>
            <a:ahLst/>
            <a:cxnLst/>
            <a:rect r="r" b="b" t="t" l="l"/>
            <a:pathLst>
              <a:path h="12151473" w="11797975">
                <a:moveTo>
                  <a:pt x="0" y="0"/>
                </a:moveTo>
                <a:lnTo>
                  <a:pt x="11797975" y="0"/>
                </a:lnTo>
                <a:lnTo>
                  <a:pt x="11797975" y="12151473"/>
                </a:lnTo>
                <a:lnTo>
                  <a:pt x="0" y="121514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92633" y="3597420"/>
            <a:ext cx="14702733" cy="3092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7290" spc="867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Secuencia Operativa de Generación de QR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937653" y="-1950116"/>
            <a:ext cx="5840316" cy="6335648"/>
          </a:xfrm>
          <a:custGeom>
            <a:avLst/>
            <a:gdLst/>
            <a:ahLst/>
            <a:cxnLst/>
            <a:rect r="r" b="b" t="t" l="l"/>
            <a:pathLst>
              <a:path h="6335648" w="5840316">
                <a:moveTo>
                  <a:pt x="0" y="0"/>
                </a:moveTo>
                <a:lnTo>
                  <a:pt x="5840316" y="0"/>
                </a:lnTo>
                <a:lnTo>
                  <a:pt x="5840316" y="6335648"/>
                </a:lnTo>
                <a:lnTo>
                  <a:pt x="0" y="63356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4983192" cy="1739263"/>
          </a:xfrm>
          <a:custGeom>
            <a:avLst/>
            <a:gdLst/>
            <a:ahLst/>
            <a:cxnLst/>
            <a:rect r="r" b="b" t="t" l="l"/>
            <a:pathLst>
              <a:path h="1739263" w="4983192">
                <a:moveTo>
                  <a:pt x="0" y="0"/>
                </a:moveTo>
                <a:lnTo>
                  <a:pt x="4983192" y="0"/>
                </a:lnTo>
                <a:lnTo>
                  <a:pt x="4983192" y="1739263"/>
                </a:lnTo>
                <a:lnTo>
                  <a:pt x="0" y="17392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2062" y="409767"/>
            <a:ext cx="14923875" cy="2520422"/>
          </a:xfrm>
          <a:custGeom>
            <a:avLst/>
            <a:gdLst/>
            <a:ahLst/>
            <a:cxnLst/>
            <a:rect r="r" b="b" t="t" l="l"/>
            <a:pathLst>
              <a:path h="2520422" w="14923875">
                <a:moveTo>
                  <a:pt x="0" y="0"/>
                </a:moveTo>
                <a:lnTo>
                  <a:pt x="14923876" y="0"/>
                </a:lnTo>
                <a:lnTo>
                  <a:pt x="14923876" y="2520423"/>
                </a:lnTo>
                <a:lnTo>
                  <a:pt x="0" y="25204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40" r="0" b="-1440"/>
            </a:stretch>
          </a:blipFill>
          <a:ln w="38100" cap="sq">
            <a:solidFill>
              <a:srgbClr val="3C6CA8"/>
            </a:solidFill>
            <a:prstDash val="lgDash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82062" y="2930190"/>
            <a:ext cx="14923875" cy="3458587"/>
          </a:xfrm>
          <a:custGeom>
            <a:avLst/>
            <a:gdLst/>
            <a:ahLst/>
            <a:cxnLst/>
            <a:rect r="r" b="b" t="t" l="l"/>
            <a:pathLst>
              <a:path h="3458587" w="14923875">
                <a:moveTo>
                  <a:pt x="0" y="0"/>
                </a:moveTo>
                <a:lnTo>
                  <a:pt x="14923876" y="0"/>
                </a:lnTo>
                <a:lnTo>
                  <a:pt x="14923876" y="3458587"/>
                </a:lnTo>
                <a:lnTo>
                  <a:pt x="0" y="3458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364" r="0" b="-6364"/>
            </a:stretch>
          </a:blipFill>
          <a:ln w="38100" cap="sq">
            <a:solidFill>
              <a:srgbClr val="FF751F"/>
            </a:solidFill>
            <a:prstDash val="dash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82062" y="6388777"/>
            <a:ext cx="14923875" cy="3488456"/>
          </a:xfrm>
          <a:custGeom>
            <a:avLst/>
            <a:gdLst/>
            <a:ahLst/>
            <a:cxnLst/>
            <a:rect r="r" b="b" t="t" l="l"/>
            <a:pathLst>
              <a:path h="3488456" w="14923875">
                <a:moveTo>
                  <a:pt x="0" y="0"/>
                </a:moveTo>
                <a:lnTo>
                  <a:pt x="14923876" y="0"/>
                </a:lnTo>
                <a:lnTo>
                  <a:pt x="14923876" y="3488456"/>
                </a:lnTo>
                <a:lnTo>
                  <a:pt x="0" y="34884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EAE164"/>
            </a:solidFill>
            <a:prstDash val="lgDash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509213">
            <a:off x="-5521245" y="3498953"/>
            <a:ext cx="11797975" cy="12151473"/>
          </a:xfrm>
          <a:custGeom>
            <a:avLst/>
            <a:gdLst/>
            <a:ahLst/>
            <a:cxnLst/>
            <a:rect r="r" b="b" t="t" l="l"/>
            <a:pathLst>
              <a:path h="12151473" w="11797975">
                <a:moveTo>
                  <a:pt x="0" y="0"/>
                </a:moveTo>
                <a:lnTo>
                  <a:pt x="11797975" y="0"/>
                </a:lnTo>
                <a:lnTo>
                  <a:pt x="11797975" y="12151473"/>
                </a:lnTo>
                <a:lnTo>
                  <a:pt x="0" y="121514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92633" y="3597420"/>
            <a:ext cx="14702733" cy="3092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7290" spc="867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casos de uso de integración de pagos por qr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937653" y="-1950116"/>
            <a:ext cx="5840316" cy="6335648"/>
          </a:xfrm>
          <a:custGeom>
            <a:avLst/>
            <a:gdLst/>
            <a:ahLst/>
            <a:cxnLst/>
            <a:rect r="r" b="b" t="t" l="l"/>
            <a:pathLst>
              <a:path h="6335648" w="5840316">
                <a:moveTo>
                  <a:pt x="0" y="0"/>
                </a:moveTo>
                <a:lnTo>
                  <a:pt x="5840316" y="0"/>
                </a:lnTo>
                <a:lnTo>
                  <a:pt x="5840316" y="6335648"/>
                </a:lnTo>
                <a:lnTo>
                  <a:pt x="0" y="63356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4983192" cy="1739263"/>
          </a:xfrm>
          <a:custGeom>
            <a:avLst/>
            <a:gdLst/>
            <a:ahLst/>
            <a:cxnLst/>
            <a:rect r="r" b="b" t="t" l="l"/>
            <a:pathLst>
              <a:path h="1739263" w="4983192">
                <a:moveTo>
                  <a:pt x="0" y="0"/>
                </a:moveTo>
                <a:lnTo>
                  <a:pt x="4983192" y="0"/>
                </a:lnTo>
                <a:lnTo>
                  <a:pt x="4983192" y="1739263"/>
                </a:lnTo>
                <a:lnTo>
                  <a:pt x="0" y="17392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-2609752" y="7203636"/>
            <a:ext cx="6818515" cy="7022815"/>
          </a:xfrm>
          <a:custGeom>
            <a:avLst/>
            <a:gdLst/>
            <a:ahLst/>
            <a:cxnLst/>
            <a:rect r="r" b="b" t="t" l="l"/>
            <a:pathLst>
              <a:path h="7022815" w="6818515">
                <a:moveTo>
                  <a:pt x="0" y="0"/>
                </a:moveTo>
                <a:lnTo>
                  <a:pt x="6818515" y="0"/>
                </a:lnTo>
                <a:lnTo>
                  <a:pt x="6818515" y="7022815"/>
                </a:lnTo>
                <a:lnTo>
                  <a:pt x="0" y="7022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212696">
            <a:off x="11728991" y="-5655540"/>
            <a:ext cx="10082463" cy="10384559"/>
          </a:xfrm>
          <a:custGeom>
            <a:avLst/>
            <a:gdLst/>
            <a:ahLst/>
            <a:cxnLst/>
            <a:rect r="r" b="b" t="t" l="l"/>
            <a:pathLst>
              <a:path h="10384559" w="10082463">
                <a:moveTo>
                  <a:pt x="0" y="0"/>
                </a:moveTo>
                <a:lnTo>
                  <a:pt x="10082463" y="0"/>
                </a:lnTo>
                <a:lnTo>
                  <a:pt x="10082463" y="10384559"/>
                </a:lnTo>
                <a:lnTo>
                  <a:pt x="0" y="103845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51508" y="1090869"/>
            <a:ext cx="6188716" cy="107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37"/>
              </a:lnSpc>
              <a:spcBef>
                <a:spcPct val="0"/>
              </a:spcBef>
            </a:pPr>
            <a:r>
              <a:rPr lang="en-US" b="true" sz="3098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🏪 1. Pagos</a:t>
            </a:r>
            <a:r>
              <a:rPr lang="en-US" b="true" sz="3098" strike="noStrike" u="none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 Inmediatos en Puntos de Venta Móviles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91918" y="4436665"/>
            <a:ext cx="9242223" cy="107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37"/>
              </a:lnSpc>
              <a:spcBef>
                <a:spcPct val="0"/>
              </a:spcBef>
            </a:pPr>
            <a:r>
              <a:rPr lang="en-US" b="true" sz="3098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💼 2. Integración de</a:t>
            </a:r>
            <a:r>
              <a:rPr lang="en-US" b="true" sz="3098" strike="noStrike" u="none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 Cobros Automáticos en Plataformas Digitales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1508" y="2439752"/>
            <a:ext cx="6093289" cy="206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61"/>
              </a:lnSpc>
            </a:pPr>
            <a:r>
              <a:rPr lang="en-US" sz="2061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Comerciantes y repartidores pueden generar un QR único desde su aplicación o sistema integrado, permitiendo que el cliente pague al instante sin necesidad de datáfonos ni efectivo. Ideal para ferias, deliveries o ventas en ruta.</a:t>
            </a:r>
          </a:p>
          <a:p>
            <a:pPr algn="just">
              <a:lnSpc>
                <a:spcPts val="206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504563" y="5777190"/>
            <a:ext cx="8471435" cy="1398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51"/>
              </a:lnSpc>
            </a:pPr>
            <a:r>
              <a:rPr lang="en-US" sz="1851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Empresas de software, apps o portales web pueden integrar el API de PagoFacil para emitir QRs de cobro automatizados en sus propios sistemas —por ejemplo, para membresías, reservas o pagos recurrentes— reduciendo fricción y costos operativos.</a:t>
            </a:r>
          </a:p>
          <a:p>
            <a:pPr algn="just">
              <a:lnSpc>
                <a:spcPts val="185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098191" y="7108759"/>
            <a:ext cx="6010842" cy="107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37"/>
              </a:lnSpc>
              <a:spcBef>
                <a:spcPct val="0"/>
              </a:spcBef>
            </a:pPr>
            <a:r>
              <a:rPr lang="en-US" b="true" sz="3098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🌍 3. Recepción de</a:t>
            </a:r>
            <a:r>
              <a:rPr lang="en-US" b="true" sz="3098" strike="noStrike" u="none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 Pagos Internacionales vía QR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40281" y="8449284"/>
            <a:ext cx="8471435" cy="1398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51"/>
              </a:lnSpc>
            </a:pPr>
            <a:r>
              <a:rPr lang="en-US" sz="1851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Aliados o plataformas extranjeras pueden usar el QR de PagoFacil como puente para enviar pagos hacia Bolivia, transformando montos desde divisas externas y acreditándolos automáticamente en cuentas locales, con total trazabilidad.</a:t>
            </a:r>
          </a:p>
          <a:p>
            <a:pPr algn="just">
              <a:lnSpc>
                <a:spcPts val="1851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304808" y="0"/>
            <a:ext cx="4983192" cy="1739263"/>
          </a:xfrm>
          <a:custGeom>
            <a:avLst/>
            <a:gdLst/>
            <a:ahLst/>
            <a:cxnLst/>
            <a:rect r="r" b="b" t="t" l="l"/>
            <a:pathLst>
              <a:path h="1739263" w="4983192">
                <a:moveTo>
                  <a:pt x="0" y="0"/>
                </a:moveTo>
                <a:lnTo>
                  <a:pt x="4983192" y="0"/>
                </a:lnTo>
                <a:lnTo>
                  <a:pt x="4983192" y="1739263"/>
                </a:lnTo>
                <a:lnTo>
                  <a:pt x="0" y="17392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16804" y="2591904"/>
            <a:ext cx="10054392" cy="213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4"/>
              </a:lnSpc>
            </a:pPr>
            <a:r>
              <a:rPr lang="en-US" b="true" sz="5938" spc="706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Soporte e INTEGRACIÓN QR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508649" y="6338704"/>
            <a:ext cx="7270702" cy="7488551"/>
          </a:xfrm>
          <a:custGeom>
            <a:avLst/>
            <a:gdLst/>
            <a:ahLst/>
            <a:cxnLst/>
            <a:rect r="r" b="b" t="t" l="l"/>
            <a:pathLst>
              <a:path h="7488551" w="7270702">
                <a:moveTo>
                  <a:pt x="0" y="0"/>
                </a:moveTo>
                <a:lnTo>
                  <a:pt x="7270702" y="0"/>
                </a:lnTo>
                <a:lnTo>
                  <a:pt x="7270702" y="7488552"/>
                </a:lnTo>
                <a:lnTo>
                  <a:pt x="0" y="74885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406737" y="-3634403"/>
            <a:ext cx="5410509" cy="5572622"/>
          </a:xfrm>
          <a:custGeom>
            <a:avLst/>
            <a:gdLst/>
            <a:ahLst/>
            <a:cxnLst/>
            <a:rect r="r" b="b" t="t" l="l"/>
            <a:pathLst>
              <a:path h="5572622" w="5410509">
                <a:moveTo>
                  <a:pt x="0" y="0"/>
                </a:moveTo>
                <a:lnTo>
                  <a:pt x="5410510" y="0"/>
                </a:lnTo>
                <a:lnTo>
                  <a:pt x="5410510" y="5572622"/>
                </a:lnTo>
                <a:lnTo>
                  <a:pt x="0" y="5572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4983192" cy="1739263"/>
          </a:xfrm>
          <a:custGeom>
            <a:avLst/>
            <a:gdLst/>
            <a:ahLst/>
            <a:cxnLst/>
            <a:rect r="r" b="b" t="t" l="l"/>
            <a:pathLst>
              <a:path h="1739263" w="4983192">
                <a:moveTo>
                  <a:pt x="0" y="0"/>
                </a:moveTo>
                <a:lnTo>
                  <a:pt x="4983192" y="0"/>
                </a:lnTo>
                <a:lnTo>
                  <a:pt x="4983192" y="1739263"/>
                </a:lnTo>
                <a:lnTo>
                  <a:pt x="0" y="17392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932993" y="5221508"/>
            <a:ext cx="4422014" cy="4311560"/>
          </a:xfrm>
          <a:custGeom>
            <a:avLst/>
            <a:gdLst/>
            <a:ahLst/>
            <a:cxnLst/>
            <a:rect r="r" b="b" t="t" l="l"/>
            <a:pathLst>
              <a:path h="4311560" w="4422014">
                <a:moveTo>
                  <a:pt x="0" y="0"/>
                </a:moveTo>
                <a:lnTo>
                  <a:pt x="4422014" y="0"/>
                </a:lnTo>
                <a:lnTo>
                  <a:pt x="4422014" y="4311561"/>
                </a:lnTo>
                <a:lnTo>
                  <a:pt x="0" y="43115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30" r="0" b="-83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46066" y="5143500"/>
            <a:ext cx="7270702" cy="7488551"/>
          </a:xfrm>
          <a:custGeom>
            <a:avLst/>
            <a:gdLst/>
            <a:ahLst/>
            <a:cxnLst/>
            <a:rect r="r" b="b" t="t" l="l"/>
            <a:pathLst>
              <a:path h="7488551" w="7270702">
                <a:moveTo>
                  <a:pt x="0" y="0"/>
                </a:moveTo>
                <a:lnTo>
                  <a:pt x="7270702" y="0"/>
                </a:lnTo>
                <a:lnTo>
                  <a:pt x="7270702" y="7488551"/>
                </a:lnTo>
                <a:lnTo>
                  <a:pt x="0" y="7488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49570" y="-507706"/>
            <a:ext cx="5538430" cy="5704376"/>
          </a:xfrm>
          <a:custGeom>
            <a:avLst/>
            <a:gdLst/>
            <a:ahLst/>
            <a:cxnLst/>
            <a:rect r="r" b="b" t="t" l="l"/>
            <a:pathLst>
              <a:path h="5704376" w="5538430">
                <a:moveTo>
                  <a:pt x="0" y="0"/>
                </a:moveTo>
                <a:lnTo>
                  <a:pt x="5538430" y="0"/>
                </a:lnTo>
                <a:lnTo>
                  <a:pt x="5538430" y="5704375"/>
                </a:lnTo>
                <a:lnTo>
                  <a:pt x="0" y="5704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9291" y="0"/>
            <a:ext cx="4983192" cy="1739263"/>
          </a:xfrm>
          <a:custGeom>
            <a:avLst/>
            <a:gdLst/>
            <a:ahLst/>
            <a:cxnLst/>
            <a:rect r="r" b="b" t="t" l="l"/>
            <a:pathLst>
              <a:path h="1739263" w="4983192">
                <a:moveTo>
                  <a:pt x="0" y="0"/>
                </a:moveTo>
                <a:lnTo>
                  <a:pt x="4983192" y="0"/>
                </a:lnTo>
                <a:lnTo>
                  <a:pt x="4983192" y="1739263"/>
                </a:lnTo>
                <a:lnTo>
                  <a:pt x="0" y="17392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05438" y="5482305"/>
            <a:ext cx="4804695" cy="4804695"/>
          </a:xfrm>
          <a:custGeom>
            <a:avLst/>
            <a:gdLst/>
            <a:ahLst/>
            <a:cxnLst/>
            <a:rect r="r" b="b" t="t" l="l"/>
            <a:pathLst>
              <a:path h="4804695" w="4804695">
                <a:moveTo>
                  <a:pt x="0" y="0"/>
                </a:moveTo>
                <a:lnTo>
                  <a:pt x="4804695" y="0"/>
                </a:lnTo>
                <a:lnTo>
                  <a:pt x="4804695" y="4804695"/>
                </a:lnTo>
                <a:lnTo>
                  <a:pt x="0" y="48046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80323" y="4302125"/>
            <a:ext cx="14927353" cy="181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 spc="832">
                <a:gradFill>
                  <a:gsLst>
                    <a:gs pos="0">
                      <a:srgbClr val="0B6EAF">
                        <a:alpha val="100000"/>
                      </a:srgbClr>
                    </a:gs>
                    <a:gs pos="100000">
                      <a:srgbClr val="7CE14C">
                        <a:alpha val="100000"/>
                      </a:srgbClr>
                    </a:gs>
                  </a:gsLst>
                  <a:lin ang="0"/>
                </a:gradFill>
                <a:latin typeface="Montaser Arabic"/>
                <a:ea typeface="Montaser Arabic"/>
                <a:cs typeface="Montaser Arabic"/>
                <a:sym typeface="Montaser Arabic"/>
              </a:rPr>
              <a:t>¡Seguimos conectando Bolivia con el mundo!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DAG2kQbrRDY</dc:identifier>
  <dcterms:modified xsi:type="dcterms:W3CDTF">2011-08-01T06:04:30Z</dcterms:modified>
  <cp:revision>1</cp:revision>
  <dc:title>Blue and White Gradient Technology Pitch Deck Presentation</dc:title>
</cp:coreProperties>
</file>